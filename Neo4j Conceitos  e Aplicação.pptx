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lexandria Bold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Garet Bold" charset="1" panose="00000000000000000000"/>
      <p:regular r:id="rId22"/>
    </p:embeddedFont>
    <p:embeddedFont>
      <p:font typeface="Garet Italic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24915" y="121936"/>
            <a:ext cx="1419085" cy="1813527"/>
          </a:xfrm>
          <a:custGeom>
            <a:avLst/>
            <a:gdLst/>
            <a:ahLst/>
            <a:cxnLst/>
            <a:rect r="r" b="b" t="t" l="l"/>
            <a:pathLst>
              <a:path h="1813527" w="1419085">
                <a:moveTo>
                  <a:pt x="0" y="0"/>
                </a:moveTo>
                <a:lnTo>
                  <a:pt x="1419085" y="0"/>
                </a:lnTo>
                <a:lnTo>
                  <a:pt x="1419085" y="1813528"/>
                </a:lnTo>
                <a:lnTo>
                  <a:pt x="0" y="18135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510375"/>
            <a:ext cx="1125609" cy="1036651"/>
          </a:xfrm>
          <a:custGeom>
            <a:avLst/>
            <a:gdLst/>
            <a:ahLst/>
            <a:cxnLst/>
            <a:rect r="r" b="b" t="t" l="l"/>
            <a:pathLst>
              <a:path h="1036651" w="1125609">
                <a:moveTo>
                  <a:pt x="0" y="0"/>
                </a:moveTo>
                <a:lnTo>
                  <a:pt x="1125609" y="0"/>
                </a:lnTo>
                <a:lnTo>
                  <a:pt x="1125609" y="1036650"/>
                </a:lnTo>
                <a:lnTo>
                  <a:pt x="0" y="1036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47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68325" y="3316293"/>
            <a:ext cx="1295134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NEO4J: CONCEITOS </a:t>
            </a:r>
          </a:p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 APLICAÇÃO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62982" y="6518648"/>
            <a:ext cx="10162036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LUCAS GUTERRES BUENO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NÍCOLLAS PROVATTI GOMES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THÉO LUIZ RODRIGUES DA SILVA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72334"/>
            <a:ext cx="8115300" cy="558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Conceito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O Neo4j é um banco de dados NoSQL orientado a grafos, projetado especificamente para lidar com dados altamente conectados.</a:t>
            </a:r>
          </a:p>
          <a:p>
            <a:pPr algn="l">
              <a:lnSpc>
                <a:spcPts val="3749"/>
              </a:lnSpc>
            </a:pP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Diferencial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Diferente de bancos tradicionais, ele armazena informações através de nós, relacionamentos e propriedades.</a:t>
            </a:r>
          </a:p>
          <a:p>
            <a:pPr algn="l">
              <a:lnSpc>
                <a:spcPts val="3749"/>
              </a:lnSpc>
            </a:pP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Casos de Uso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Ideal para redes sociais, sistemas de recomendação, detecção de fraudes e redes de transporte.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770077" y="2419489"/>
            <a:ext cx="7489223" cy="6209450"/>
            <a:chOff x="0" y="0"/>
            <a:chExt cx="98031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319" cy="812800"/>
            </a:xfrm>
            <a:custGeom>
              <a:avLst/>
              <a:gdLst/>
              <a:ahLst/>
              <a:cxnLst/>
              <a:rect r="r" b="b" t="t" l="l"/>
              <a:pathLst>
                <a:path h="812800" w="980319">
                  <a:moveTo>
                    <a:pt x="31012" y="0"/>
                  </a:moveTo>
                  <a:lnTo>
                    <a:pt x="949307" y="0"/>
                  </a:lnTo>
                  <a:cubicBezTo>
                    <a:pt x="957532" y="0"/>
                    <a:pt x="965420" y="3267"/>
                    <a:pt x="971236" y="9083"/>
                  </a:cubicBezTo>
                  <a:cubicBezTo>
                    <a:pt x="977052" y="14899"/>
                    <a:pt x="980319" y="22787"/>
                    <a:pt x="980319" y="31012"/>
                  </a:cubicBezTo>
                  <a:lnTo>
                    <a:pt x="980319" y="781788"/>
                  </a:lnTo>
                  <a:cubicBezTo>
                    <a:pt x="980319" y="790013"/>
                    <a:pt x="977052" y="797901"/>
                    <a:pt x="971236" y="803717"/>
                  </a:cubicBezTo>
                  <a:cubicBezTo>
                    <a:pt x="965420" y="809533"/>
                    <a:pt x="957532" y="812800"/>
                    <a:pt x="949307" y="812800"/>
                  </a:cubicBezTo>
                  <a:lnTo>
                    <a:pt x="31012" y="812800"/>
                  </a:lnTo>
                  <a:cubicBezTo>
                    <a:pt x="22787" y="812800"/>
                    <a:pt x="14899" y="809533"/>
                    <a:pt x="9083" y="803717"/>
                  </a:cubicBezTo>
                  <a:cubicBezTo>
                    <a:pt x="3267" y="797901"/>
                    <a:pt x="0" y="790013"/>
                    <a:pt x="0" y="781788"/>
                  </a:cubicBezTo>
                  <a:lnTo>
                    <a:pt x="0" y="31012"/>
                  </a:lnTo>
                  <a:cubicBezTo>
                    <a:pt x="0" y="22787"/>
                    <a:pt x="3267" y="14899"/>
                    <a:pt x="9083" y="9083"/>
                  </a:cubicBezTo>
                  <a:cubicBezTo>
                    <a:pt x="14899" y="3267"/>
                    <a:pt x="22787" y="0"/>
                    <a:pt x="3101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4" r="0" b="-6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14400"/>
            <a:ext cx="92051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 que é o Neo4j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43916"/>
            <a:ext cx="16230600" cy="468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Nós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Representam as entidades (ex: Usuário, Empresa).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Rótulos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Categorizam os nós, permitindo criar índices e agrupar entidades semelhantes.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Relacionamentos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Conectam os nós com direção e tipo (ex: AVALIOU, AMIGO_DE).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Propriedades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Atributos chave-valor armazenados em nós e relacionamentos (ex: nome, nota, data)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92051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Estrutura de um Grafo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3052526"/>
            <a:ext cx="11301259" cy="5297465"/>
          </a:xfrm>
          <a:custGeom>
            <a:avLst/>
            <a:gdLst/>
            <a:ahLst/>
            <a:cxnLst/>
            <a:rect r="r" b="b" t="t" l="l"/>
            <a:pathLst>
              <a:path h="5297465" w="11301259">
                <a:moveTo>
                  <a:pt x="0" y="0"/>
                </a:moveTo>
                <a:lnTo>
                  <a:pt x="11301258" y="0"/>
                </a:lnTo>
                <a:lnTo>
                  <a:pt x="11301258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92051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Estrutura de um Grafo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558009"/>
            <a:ext cx="16230600" cy="604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Modelo Relaciona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l: Organizado em tabelas com chaves estrangeiras; consultas complexas exigem múltiplos JOINs, que podem ser custosos.</a:t>
            </a:r>
          </a:p>
          <a:p>
            <a:pPr algn="l">
              <a:lnSpc>
                <a:spcPts val="3749"/>
              </a:lnSpc>
            </a:pP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Neo4j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Utiliza "adjacência livre de índices", onde cada nó mantém referências físicas diretas para seus vizinhos.</a:t>
            </a:r>
          </a:p>
          <a:p>
            <a:pPr algn="l">
              <a:lnSpc>
                <a:spcPts val="3749"/>
              </a:lnSpc>
            </a:pP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Performance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Enquanto JOINs em bancos tradicionais custam geralmente O(log n), a travessia no Neo4j é uma operação de tempo constante O(1).</a:t>
            </a:r>
          </a:p>
          <a:p>
            <a:pPr algn="l">
              <a:lnSpc>
                <a:spcPts val="3749"/>
              </a:lnSpc>
            </a:pP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Comparativo</a:t>
            </a: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l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Tabela SQL ↔ Grafo; </a:t>
            </a:r>
          </a:p>
          <a:p>
            <a:pPr algn="l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Chave Estrangeira ↔ Relacionamento; </a:t>
            </a:r>
          </a:p>
          <a:p>
            <a:pPr algn="l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JOIN ↔ Travessia.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20034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Neo4j x Banco Relacional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159099" y="1028700"/>
            <a:ext cx="7849387" cy="3910798"/>
          </a:xfrm>
          <a:custGeom>
            <a:avLst/>
            <a:gdLst/>
            <a:ahLst/>
            <a:cxnLst/>
            <a:rect r="r" b="b" t="t" l="l"/>
            <a:pathLst>
              <a:path h="3910798" w="7849387">
                <a:moveTo>
                  <a:pt x="0" y="0"/>
                </a:moveTo>
                <a:lnTo>
                  <a:pt x="7849387" y="0"/>
                </a:lnTo>
                <a:lnTo>
                  <a:pt x="7849387" y="3910798"/>
                </a:lnTo>
                <a:lnTo>
                  <a:pt x="0" y="3910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01" t="-17204" r="-3701" b="-324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59099" y="5399603"/>
            <a:ext cx="7850660" cy="3858697"/>
          </a:xfrm>
          <a:custGeom>
            <a:avLst/>
            <a:gdLst/>
            <a:ahLst/>
            <a:cxnLst/>
            <a:rect r="r" b="b" t="t" l="l"/>
            <a:pathLst>
              <a:path h="3858697" w="7850660">
                <a:moveTo>
                  <a:pt x="0" y="0"/>
                </a:moveTo>
                <a:lnTo>
                  <a:pt x="7850660" y="0"/>
                </a:lnTo>
                <a:lnTo>
                  <a:pt x="7850660" y="3858697"/>
                </a:lnTo>
                <a:lnTo>
                  <a:pt x="0" y="3858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63" t="-18402" r="-3289" b="-3067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492590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Neo4j x SQL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518668" y="2936338"/>
            <a:ext cx="11250664" cy="5529841"/>
          </a:xfrm>
          <a:custGeom>
            <a:avLst/>
            <a:gdLst/>
            <a:ahLst/>
            <a:cxnLst/>
            <a:rect r="r" b="b" t="t" l="l"/>
            <a:pathLst>
              <a:path h="5529841" w="11250664">
                <a:moveTo>
                  <a:pt x="0" y="0"/>
                </a:moveTo>
                <a:lnTo>
                  <a:pt x="11250664" y="0"/>
                </a:lnTo>
                <a:lnTo>
                  <a:pt x="11250664" y="5529841"/>
                </a:lnTo>
                <a:lnTo>
                  <a:pt x="0" y="55298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63" t="-18402" r="-3289" b="-3067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20034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Neo4j vs Banco Relacional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71564"/>
            <a:ext cx="13463302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Linguagem Cypher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Linguagem declarativa que usa "ASCII-Art" (ex: (u)-[:REVIEWED]-&gt;(b)) para descrever padrões visuais no grafo.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Suporte ACID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Garante atomicidade, consistência, isolamento e durabilidade total em todas as transações.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Ec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ossistema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Visualização interativa (Neo4j Browser), biblioteca de ciência de dados (GDS) e integração robusta com Python.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20034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Principais Funcionalidades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05534" y="2821651"/>
            <a:ext cx="11476933" cy="5759217"/>
          </a:xfrm>
          <a:custGeom>
            <a:avLst/>
            <a:gdLst/>
            <a:ahLst/>
            <a:cxnLst/>
            <a:rect r="r" b="b" t="t" l="l"/>
            <a:pathLst>
              <a:path h="5759217" w="11476933">
                <a:moveTo>
                  <a:pt x="0" y="0"/>
                </a:moveTo>
                <a:lnTo>
                  <a:pt x="11476932" y="0"/>
                </a:lnTo>
                <a:lnTo>
                  <a:pt x="11476932" y="5759216"/>
                </a:lnTo>
                <a:lnTo>
                  <a:pt x="0" y="5759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93" t="-18619" r="-5890" b="-607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20034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Principais Funcionalidades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45880" y="1066800"/>
            <a:ext cx="56134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3F3D3E">
                    <a:alpha val="49804"/>
                  </a:srgbClr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: Linguagem Cyper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03169"/>
            <a:ext cx="10775292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Conteúdo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Coleção massiva de dados sobre usuários, empresas (business) e avaliações (reviews).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Motivo da Escolha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Apresenta um grande volume de dados conectados, cenário perfeito para demonstrar o poder da modelagem em grafos.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strutura Natural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Permite explorar conexões complexas, como usuários que são amigos entre si e avaliam as mesmas empresas.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402963" y="3096046"/>
            <a:ext cx="4856337" cy="4856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7575" t="0" r="-757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14400"/>
            <a:ext cx="1518555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Dataset Escolhido: Yelp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19934"/>
            <a:ext cx="16230600" cy="568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Entidades 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(Nós):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User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Com propriedades como name, review_count e average_stars.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Business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Com propriedades como name, address, city e stars.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Conexão 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(Relacionamento):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REVIEWED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Conecta um User a um Business, contendo a nota (stars) e o texto da avaliação.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Mensagem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Os arquivos JSON originais foram filtrados e convertidos para esta estrutura de rede intuitiva.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518555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Modelagem do Banco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19934"/>
            <a:ext cx="16230600" cy="625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CREATE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 CREATE (u:User {id: "user_01", name: "Lucas"})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READ (MATCH)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MATCH (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u:User {id: "user_01"}) RETURN u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UPDATE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(SET)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MATCH (u:User {id: "user_01"}) SET u.name = "Lucas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 Silva".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 MATCH (u:User {id: "user_01"}) DETACH DELETE u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(remove o nó e suas conexões de forma atômica).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Importação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Uso do comando </a:t>
            </a:r>
            <a:r>
              <a:rPr lang="en-US" sz="3000" i="true">
                <a:solidFill>
                  <a:srgbClr val="545454"/>
                </a:solidFill>
                <a:latin typeface="Garet Italics"/>
                <a:ea typeface="Garet Italics"/>
                <a:cs typeface="Garet Italics"/>
                <a:sym typeface="Garet Italics"/>
              </a:rPr>
              <a:t>apoc.load.json</a:t>
            </a: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para carregar os dados via servidor local.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167950" y="5726201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518555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Demonstração do CRUD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53208" y="2774632"/>
            <a:ext cx="6748687" cy="2847444"/>
          </a:xfrm>
          <a:custGeom>
            <a:avLst/>
            <a:gdLst/>
            <a:ahLst/>
            <a:cxnLst/>
            <a:rect r="r" b="b" t="t" l="l"/>
            <a:pathLst>
              <a:path h="2847444" w="6748687">
                <a:moveTo>
                  <a:pt x="0" y="0"/>
                </a:moveTo>
                <a:lnTo>
                  <a:pt x="6748687" y="0"/>
                </a:lnTo>
                <a:lnTo>
                  <a:pt x="6748687" y="2847444"/>
                </a:lnTo>
                <a:lnTo>
                  <a:pt x="0" y="2847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05" t="-66249" r="-124504" b="-1538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774632"/>
            <a:ext cx="6700903" cy="2847444"/>
          </a:xfrm>
          <a:custGeom>
            <a:avLst/>
            <a:gdLst/>
            <a:ahLst/>
            <a:cxnLst/>
            <a:rect r="r" b="b" t="t" l="l"/>
            <a:pathLst>
              <a:path h="2847444" w="6700903">
                <a:moveTo>
                  <a:pt x="0" y="0"/>
                </a:moveTo>
                <a:lnTo>
                  <a:pt x="6700903" y="0"/>
                </a:lnTo>
                <a:lnTo>
                  <a:pt x="6700903" y="2847444"/>
                </a:lnTo>
                <a:lnTo>
                  <a:pt x="0" y="2847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8904" t="-80508" r="-41121" b="-20043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1518555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Demonstração do CRUD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6257884"/>
            <a:ext cx="6700903" cy="2816769"/>
          </a:xfrm>
          <a:custGeom>
            <a:avLst/>
            <a:gdLst/>
            <a:ahLst/>
            <a:cxnLst/>
            <a:rect r="r" b="b" t="t" l="l"/>
            <a:pathLst>
              <a:path h="2816769" w="6700903">
                <a:moveTo>
                  <a:pt x="0" y="0"/>
                </a:moveTo>
                <a:lnTo>
                  <a:pt x="6700903" y="0"/>
                </a:lnTo>
                <a:lnTo>
                  <a:pt x="6700903" y="2816769"/>
                </a:lnTo>
                <a:lnTo>
                  <a:pt x="0" y="2816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2952" t="-179234" r="-16525" b="-3873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3302" y="6257884"/>
            <a:ext cx="7358176" cy="2847444"/>
          </a:xfrm>
          <a:custGeom>
            <a:avLst/>
            <a:gdLst/>
            <a:ahLst/>
            <a:cxnLst/>
            <a:rect r="r" b="b" t="t" l="l"/>
            <a:pathLst>
              <a:path h="2847444" w="7358176">
                <a:moveTo>
                  <a:pt x="0" y="0"/>
                </a:moveTo>
                <a:lnTo>
                  <a:pt x="7358176" y="0"/>
                </a:lnTo>
                <a:lnTo>
                  <a:pt x="7358176" y="2847444"/>
                </a:lnTo>
                <a:lnTo>
                  <a:pt x="0" y="2847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110" t="-207867" r="-138571" b="-60903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55519"/>
            <a:ext cx="9524883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Eficiência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O Neo4j é superior para dados altamente conectados devido à sua arquitetura nativa de grafos.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Naturalidade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O modelo de grafos permitiu representar o ecossistema do Yelp de forma muito mais intuitiva que uma estrutura tabular.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Veredito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: Ban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os de grafos são a alternativa ideal quando o valor real da informação reside nos relacionamentos entre os dados.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553583" y="2520315"/>
            <a:ext cx="6705717" cy="5246370"/>
            <a:chOff x="0" y="0"/>
            <a:chExt cx="103889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8891" cy="812800"/>
            </a:xfrm>
            <a:custGeom>
              <a:avLst/>
              <a:gdLst/>
              <a:ahLst/>
              <a:cxnLst/>
              <a:rect r="r" b="b" t="t" l="l"/>
              <a:pathLst>
                <a:path h="812800" w="1038891">
                  <a:moveTo>
                    <a:pt x="115453" y="0"/>
                  </a:moveTo>
                  <a:lnTo>
                    <a:pt x="923438" y="0"/>
                  </a:lnTo>
                  <a:cubicBezTo>
                    <a:pt x="954058" y="0"/>
                    <a:pt x="983424" y="12164"/>
                    <a:pt x="1005076" y="33815"/>
                  </a:cubicBezTo>
                  <a:cubicBezTo>
                    <a:pt x="1026727" y="55467"/>
                    <a:pt x="1038891" y="84833"/>
                    <a:pt x="1038891" y="115453"/>
                  </a:cubicBezTo>
                  <a:lnTo>
                    <a:pt x="1038891" y="697347"/>
                  </a:lnTo>
                  <a:cubicBezTo>
                    <a:pt x="1038891" y="727967"/>
                    <a:pt x="1026727" y="757333"/>
                    <a:pt x="1005076" y="778985"/>
                  </a:cubicBezTo>
                  <a:cubicBezTo>
                    <a:pt x="983424" y="800636"/>
                    <a:pt x="954058" y="812800"/>
                    <a:pt x="923438" y="812800"/>
                  </a:cubicBezTo>
                  <a:lnTo>
                    <a:pt x="115453" y="812800"/>
                  </a:lnTo>
                  <a:cubicBezTo>
                    <a:pt x="84833" y="812800"/>
                    <a:pt x="55467" y="800636"/>
                    <a:pt x="33815" y="778985"/>
                  </a:cubicBezTo>
                  <a:cubicBezTo>
                    <a:pt x="12164" y="757333"/>
                    <a:pt x="0" y="727967"/>
                    <a:pt x="0" y="697347"/>
                  </a:cubicBezTo>
                  <a:lnTo>
                    <a:pt x="0" y="115453"/>
                  </a:lnTo>
                  <a:cubicBezTo>
                    <a:pt x="0" y="84833"/>
                    <a:pt x="12164" y="55467"/>
                    <a:pt x="33815" y="33815"/>
                  </a:cubicBezTo>
                  <a:cubicBezTo>
                    <a:pt x="55467" y="12164"/>
                    <a:pt x="84833" y="0"/>
                    <a:pt x="115453" y="0"/>
                  </a:cubicBezTo>
                  <a:close/>
                </a:path>
              </a:pathLst>
            </a:custGeom>
            <a:blipFill>
              <a:blip r:embed="rId6"/>
              <a:stretch>
                <a:fillRect l="-21393" t="0" r="-311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14400"/>
            <a:ext cx="120034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>
                    <a:alpha val="4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DAHMLfdEZVg</dc:identifier>
  <dcterms:modified xsi:type="dcterms:W3CDTF">2011-08-01T06:04:30Z</dcterms:modified>
  <cp:revision>1</cp:revision>
  <dc:title>Neo4j: Conceitos  e Aplicação</dc:title>
</cp:coreProperties>
</file>